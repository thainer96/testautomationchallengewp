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1"/>
  </p:notesMasterIdLst>
  <p:handoutMasterIdLst>
    <p:handoutMasterId r:id="rId12"/>
  </p:handoutMasterIdLst>
  <p:sldIdLst>
    <p:sldId id="256" r:id="rId5"/>
    <p:sldId id="289" r:id="rId6"/>
    <p:sldId id="295" r:id="rId7"/>
    <p:sldId id="296" r:id="rId8"/>
    <p:sldId id="270" r:id="rId9"/>
    <p:sldId id="276" r:id="rId1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72C"/>
    <a:srgbClr val="FD8B8B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449ECEF-3E94-4732-BFC3-464D975639BA}" type="datetime1">
              <a:rPr lang="es-ES" smtClean="0"/>
              <a:t>03/05/2026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53551-E181-4730-A9E5-DB7143B35D46}" type="datetime1">
              <a:rPr lang="es-ES" smtClean="0"/>
              <a:pPr/>
              <a:t>03/05/2026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401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8265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648A3-9A49-E42F-B56B-DAEB35D6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5DAB57-63A7-3052-0EAE-02E3DFD2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CCDDE6-640A-A49D-68B2-F2ADEACDD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F1E520-C410-ABC4-1DF2-B3D7F9B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4436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FD81-2EBD-BD18-9720-ABBAE57E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A2EA3F5-D529-8CDF-1E54-6B043D66A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F7FA7F-64F7-1B48-FE3D-0D7A2A04A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7E8243-3116-FFC2-A560-7BFB7D86D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856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8240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4" name="Marcador de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5" name="Marcador de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7" name="Marcador de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1" name="Marcador de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2" name="Marcador de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3" name="Marcador de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4" name="Marcador de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13" name="Marcador de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8" name="Marcador de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0" name="Marcador de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4" name="Marcador de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2" name="Marcador de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4" name="Marcador de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6" name="Marcador de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7" name="Marcador de fech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19" name="Marcador de número de diapositiva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t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de mercado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Marcador de conteni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ido 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20" name="Marcador de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5" name="Marcador de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7" name="Marcador de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8" name="Marcador de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9" name="Marcador de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onogram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8" name="Marcador de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9" name="Marcador de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2" name="Marcador de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3" name="Marcador de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4" name="Marcador de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5" name="Marcador de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6" name="Marcador de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7" name="Marcador de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8" name="Marcador de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9" name="Marcador de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0" name="Marcador de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1" name="Marcador de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Marcador de fech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37" name="Marcador de pie de página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38" name="Marcador de número de diapositiva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4 persona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8 persona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5" name="Marcador de posición de imagen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6" name="Marcador de posición de imagen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7" name="Marcador de posición de imagen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58" name="Marcador de posición de imagen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2" name="Marcador de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9" name="Marcador de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3" name="Marcador de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0" name="Marcador de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4" name="Marcador de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1" name="Marcador de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5" name="Marcador de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conteni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conteni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ier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r>
              <a:rPr lang="es-ES" dirty="0"/>
              <a:t>Reto Automatización - </a:t>
            </a:r>
            <a:r>
              <a:rPr lang="es-ES" dirty="0" err="1"/>
              <a:t>wompi</a:t>
            </a:r>
            <a:endParaRPr lang="es-ES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C7DAC67-B21F-AEA1-8220-259CF9B60083}"/>
              </a:ext>
            </a:extLst>
          </p:cNvPr>
          <p:cNvSpPr txBox="1">
            <a:spLocks/>
          </p:cNvSpPr>
          <p:nvPr/>
        </p:nvSpPr>
        <p:spPr>
          <a:xfrm>
            <a:off x="0" y="6501289"/>
            <a:ext cx="2900023" cy="356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Thainer Andres Franklin Perez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8" y="3867183"/>
            <a:ext cx="4422058" cy="1325563"/>
          </a:xfrm>
        </p:spPr>
        <p:txBody>
          <a:bodyPr rtlCol="0"/>
          <a:lstStyle/>
          <a:p>
            <a:pPr rtl="0"/>
            <a:r>
              <a:rPr lang="es-ES" dirty="0"/>
              <a:t>Decisiones </a:t>
            </a:r>
            <a:r>
              <a:rPr lang="es-ES" dirty="0" err="1"/>
              <a:t>tecnicas</a:t>
            </a:r>
            <a:endParaRPr lang="es-ES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5E08C62-0FB0-BAA0-43BB-1788591D37FA}"/>
              </a:ext>
            </a:extLst>
          </p:cNvPr>
          <p:cNvSpPr/>
          <p:nvPr/>
        </p:nvSpPr>
        <p:spPr>
          <a:xfrm>
            <a:off x="4758814" y="211394"/>
            <a:ext cx="1199534" cy="63087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D0C2716-B2FA-CA5A-B6C0-54FB9A0D36FC}"/>
              </a:ext>
            </a:extLst>
          </p:cNvPr>
          <p:cNvSpPr/>
          <p:nvPr/>
        </p:nvSpPr>
        <p:spPr>
          <a:xfrm>
            <a:off x="4857136" y="337899"/>
            <a:ext cx="1002890" cy="14158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3DC55DE-F7C9-DBA1-B7AE-156E5E67297B}"/>
              </a:ext>
            </a:extLst>
          </p:cNvPr>
          <p:cNvSpPr/>
          <p:nvPr/>
        </p:nvSpPr>
        <p:spPr>
          <a:xfrm>
            <a:off x="4847303" y="1880249"/>
            <a:ext cx="1002890" cy="14158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2B836CE-23F8-7A04-BF97-3A265B91725D}"/>
              </a:ext>
            </a:extLst>
          </p:cNvPr>
          <p:cNvSpPr/>
          <p:nvPr/>
        </p:nvSpPr>
        <p:spPr>
          <a:xfrm>
            <a:off x="4847303" y="3429000"/>
            <a:ext cx="1002890" cy="14158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4EA97B1-84FC-2183-2378-205111F0023A}"/>
              </a:ext>
            </a:extLst>
          </p:cNvPr>
          <p:cNvSpPr/>
          <p:nvPr/>
        </p:nvSpPr>
        <p:spPr>
          <a:xfrm>
            <a:off x="4857136" y="4977751"/>
            <a:ext cx="1002890" cy="141584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448B0C1-DA37-E6FE-AF5F-7A39987D1ADD}"/>
              </a:ext>
            </a:extLst>
          </p:cNvPr>
          <p:cNvSpPr txBox="1"/>
          <p:nvPr/>
        </p:nvSpPr>
        <p:spPr>
          <a:xfrm>
            <a:off x="6127956" y="722655"/>
            <a:ext cx="4984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Page </a:t>
            </a:r>
            <a:r>
              <a:rPr lang="es-MX" dirty="0" err="1"/>
              <a:t>Object</a:t>
            </a:r>
            <a:r>
              <a:rPr lang="es-MX" dirty="0"/>
              <a:t> es para UI. Este proyecto es 100% API.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D96BC58-8C1B-E1E9-330B-78AA59F8EDCA}"/>
              </a:ext>
            </a:extLst>
          </p:cNvPr>
          <p:cNvSpPr txBox="1"/>
          <p:nvPr/>
        </p:nvSpPr>
        <p:spPr>
          <a:xfrm>
            <a:off x="6233654" y="2265005"/>
            <a:ext cx="4984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Screenplay</a:t>
            </a:r>
            <a:r>
              <a:rPr lang="es-MX" dirty="0"/>
              <a:t> modela actores que ejecutan acciones (</a:t>
            </a:r>
            <a:r>
              <a:rPr lang="es-MX" dirty="0" err="1"/>
              <a:t>Tasks</a:t>
            </a:r>
            <a:r>
              <a:rPr lang="es-MX" dirty="0"/>
              <a:t>) y observan resultados (Questions).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A8FBDF-7F9B-D247-63B1-025843B2D347}"/>
              </a:ext>
            </a:extLst>
          </p:cNvPr>
          <p:cNvSpPr txBox="1"/>
          <p:nvPr/>
        </p:nvSpPr>
        <p:spPr>
          <a:xfrm>
            <a:off x="6233653" y="3669666"/>
            <a:ext cx="4984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Serenity BDD trae </a:t>
            </a:r>
            <a:r>
              <a:rPr lang="es-MX" dirty="0" err="1"/>
              <a:t>Screenplay</a:t>
            </a:r>
            <a:r>
              <a:rPr lang="es-MX" dirty="0"/>
              <a:t> implementado + reportes automáticos con detalle de cada </a:t>
            </a:r>
            <a:r>
              <a:rPr lang="es-MX" dirty="0" err="1"/>
              <a:t>request</a:t>
            </a:r>
            <a:r>
              <a:rPr lang="es-MX" dirty="0"/>
              <a:t>/response.</a:t>
            </a:r>
          </a:p>
          <a:p>
            <a:endParaRPr lang="es-MX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61C3169-1146-BB3D-6CBC-065304A56ABC}"/>
              </a:ext>
            </a:extLst>
          </p:cNvPr>
          <p:cNvSpPr txBox="1"/>
          <p:nvPr/>
        </p:nvSpPr>
        <p:spPr>
          <a:xfrm>
            <a:off x="6233653" y="5192746"/>
            <a:ext cx="49849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Java 17 + Maven</a:t>
            </a:r>
          </a:p>
          <a:p>
            <a:r>
              <a:rPr lang="es-MX" dirty="0"/>
              <a:t>Serenity BDD 4.2.12</a:t>
            </a:r>
          </a:p>
          <a:p>
            <a:r>
              <a:rPr lang="es-MX" dirty="0" err="1"/>
              <a:t>Cucumber</a:t>
            </a:r>
            <a:r>
              <a:rPr lang="es-MX" dirty="0"/>
              <a:t> con </a:t>
            </a:r>
            <a:r>
              <a:rPr lang="es-MX" dirty="0" err="1"/>
              <a:t>Gherkin</a:t>
            </a:r>
            <a:r>
              <a:rPr lang="es-MX" dirty="0"/>
              <a:t> en español</a:t>
            </a:r>
          </a:p>
          <a:p>
            <a:r>
              <a:rPr lang="es-MX" dirty="0"/>
              <a:t>Lombok para </a:t>
            </a:r>
            <a:r>
              <a:rPr lang="es-MX" dirty="0" err="1"/>
              <a:t>POJOs</a:t>
            </a:r>
            <a:endParaRPr lang="es-MX" dirty="0"/>
          </a:p>
          <a:p>
            <a:r>
              <a:rPr lang="es-MX" dirty="0"/>
              <a:t>Rest </a:t>
            </a:r>
            <a:r>
              <a:rPr lang="es-MX" dirty="0" err="1"/>
              <a:t>Assured</a:t>
            </a:r>
            <a:r>
              <a:rPr lang="es-MX" dirty="0"/>
              <a:t> (integrado vía Serenity)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8C40BE9A-FE93-4749-20F7-5A6E1097D422}"/>
              </a:ext>
            </a:extLst>
          </p:cNvPr>
          <p:cNvCxnSpPr/>
          <p:nvPr/>
        </p:nvCxnSpPr>
        <p:spPr>
          <a:xfrm>
            <a:off x="6127956" y="1880249"/>
            <a:ext cx="47661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F74C3D79-7179-4BE4-8EAD-A71BB476E323}"/>
              </a:ext>
            </a:extLst>
          </p:cNvPr>
          <p:cNvCxnSpPr/>
          <p:nvPr/>
        </p:nvCxnSpPr>
        <p:spPr>
          <a:xfrm>
            <a:off x="6233653" y="3387043"/>
            <a:ext cx="47661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7219E985-E2D4-D032-D86D-48E4A22528E0}"/>
              </a:ext>
            </a:extLst>
          </p:cNvPr>
          <p:cNvCxnSpPr/>
          <p:nvPr/>
        </p:nvCxnSpPr>
        <p:spPr>
          <a:xfrm>
            <a:off x="6233653" y="4977751"/>
            <a:ext cx="47661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E8B7-D5C4-B9AB-054B-4584F35F5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6DE52-4281-26FA-D4DF-482F89F5E15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47" y="214201"/>
            <a:ext cx="9187017" cy="601878"/>
          </a:xfrm>
        </p:spPr>
        <p:txBody>
          <a:bodyPr rtlCol="0"/>
          <a:lstStyle/>
          <a:p>
            <a:pPr algn="ctr" rtl="0"/>
            <a:r>
              <a:rPr lang="es-ES" dirty="0"/>
              <a:t>arquitectura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99BA4C-9E71-85DE-4245-379BC9287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77" y="1602658"/>
            <a:ext cx="48768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54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82E83-2B3A-D049-82F5-DB124A03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0952B73F-1C3A-7BFD-2D5D-EFAC34D1A0DE}"/>
              </a:ext>
            </a:extLst>
          </p:cNvPr>
          <p:cNvSpPr txBox="1">
            <a:spLocks/>
          </p:cNvSpPr>
          <p:nvPr/>
        </p:nvSpPr>
        <p:spPr>
          <a:xfrm>
            <a:off x="1023389" y="2031744"/>
            <a:ext cx="2141764" cy="514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b="1" dirty="0">
                <a:latin typeface="+mn-lt"/>
              </a:rPr>
              <a:t>Happy </a:t>
            </a:r>
            <a:r>
              <a:rPr lang="es-ES" sz="1800" b="1" dirty="0" err="1">
                <a:latin typeface="+mn-lt"/>
              </a:rPr>
              <a:t>paths</a:t>
            </a:r>
            <a:endParaRPr lang="es-ES" sz="1800" b="1" dirty="0">
              <a:latin typeface="+mn-lt"/>
            </a:endParaRPr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F56B63C6-3697-66BA-7155-80F2475E96A2}"/>
              </a:ext>
            </a:extLst>
          </p:cNvPr>
          <p:cNvSpPr txBox="1">
            <a:spLocks/>
          </p:cNvSpPr>
          <p:nvPr/>
        </p:nvSpPr>
        <p:spPr>
          <a:xfrm>
            <a:off x="452284" y="3108069"/>
            <a:ext cx="3278926" cy="514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b="1" dirty="0"/>
              <a:t>ESQUEMAS DEL ESCENARIO</a:t>
            </a:r>
          </a:p>
        </p:txBody>
      </p:sp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3BC50B1D-F253-0B47-F45D-69118D853A56}"/>
              </a:ext>
            </a:extLst>
          </p:cNvPr>
          <p:cNvSpPr txBox="1">
            <a:spLocks/>
          </p:cNvSpPr>
          <p:nvPr/>
        </p:nvSpPr>
        <p:spPr>
          <a:xfrm>
            <a:off x="2195871" y="4184394"/>
            <a:ext cx="2141764" cy="514350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/>
              <a:t>ALTERNOS</a:t>
            </a:r>
          </a:p>
        </p:txBody>
      </p: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BE792F84-6F40-134D-3FBA-27A089C7B10B}"/>
              </a:ext>
            </a:extLst>
          </p:cNvPr>
          <p:cNvSpPr txBox="1">
            <a:spLocks/>
          </p:cNvSpPr>
          <p:nvPr/>
        </p:nvSpPr>
        <p:spPr>
          <a:xfrm>
            <a:off x="5040632" y="1484848"/>
            <a:ext cx="5539095" cy="1010842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600" dirty="0"/>
              <a:t>GET /</a:t>
            </a:r>
            <a:r>
              <a:rPr lang="es-ES" sz="1600" dirty="0" err="1"/>
              <a:t>merchants</a:t>
            </a:r>
            <a:r>
              <a:rPr lang="es-ES" sz="1600" dirty="0"/>
              <a:t>/{</a:t>
            </a:r>
            <a:r>
              <a:rPr lang="es-ES" sz="1600" dirty="0" err="1"/>
              <a:t>key</a:t>
            </a:r>
            <a:r>
              <a:rPr lang="es-ES" sz="1600" dirty="0"/>
              <a:t>} — consulta exitosa</a:t>
            </a:r>
          </a:p>
          <a:p>
            <a:pPr marL="0" indent="0">
              <a:buNone/>
            </a:pPr>
            <a:r>
              <a:rPr lang="es-ES" sz="1600" dirty="0"/>
              <a:t>POST /</a:t>
            </a:r>
            <a:r>
              <a:rPr lang="es-ES" sz="1600" dirty="0" err="1"/>
              <a:t>transactions</a:t>
            </a:r>
            <a:r>
              <a:rPr lang="es-ES" sz="1600" dirty="0"/>
              <a:t> — NEQUI (aprobado)</a:t>
            </a:r>
          </a:p>
          <a:p>
            <a:pPr marL="0" indent="0">
              <a:buNone/>
            </a:pPr>
            <a:r>
              <a:rPr lang="es-ES" sz="1600" dirty="0"/>
              <a:t>POST /</a:t>
            </a:r>
            <a:r>
              <a:rPr lang="es-ES" sz="1600" dirty="0" err="1"/>
              <a:t>transactions</a:t>
            </a:r>
            <a:r>
              <a:rPr lang="es-ES" sz="1600" dirty="0"/>
              <a:t> — BANCOLOMBIA_QR (aprobado)</a:t>
            </a:r>
          </a:p>
          <a:p>
            <a:pPr marL="0" indent="0">
              <a:buNone/>
            </a:pPr>
            <a:r>
              <a:rPr lang="es-ES" sz="1600" dirty="0"/>
              <a:t>POST /</a:t>
            </a:r>
            <a:r>
              <a:rPr lang="es-ES" sz="1600" dirty="0" err="1"/>
              <a:t>transactions</a:t>
            </a:r>
            <a:r>
              <a:rPr lang="es-ES" sz="1600" dirty="0"/>
              <a:t> — BANCOLOMBIA_TRANSFER (aprobado)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623B7B6D-768A-BAB9-A3E1-D79DE1E2DE08}"/>
              </a:ext>
            </a:extLst>
          </p:cNvPr>
          <p:cNvSpPr txBox="1">
            <a:spLocks/>
          </p:cNvSpPr>
          <p:nvPr/>
        </p:nvSpPr>
        <p:spPr>
          <a:xfrm>
            <a:off x="5536634" y="3108069"/>
            <a:ext cx="5539095" cy="1010842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1600" dirty="0"/>
              <a:t>3 variaciones: número aprobado, declinado, error</a:t>
            </a:r>
          </a:p>
          <a:p>
            <a:pPr marL="0" indent="0">
              <a:buNone/>
            </a:pPr>
            <a:r>
              <a:rPr lang="es-MX" sz="1600" dirty="0"/>
              <a:t>Usa Ejemplos de </a:t>
            </a:r>
            <a:r>
              <a:rPr lang="es-MX" sz="1600" dirty="0" err="1"/>
              <a:t>Cucumber</a:t>
            </a:r>
            <a:r>
              <a:rPr lang="es-MX" sz="1600" dirty="0"/>
              <a:t> para parametrizar</a:t>
            </a:r>
            <a:endParaRPr lang="es-ES" sz="1600" dirty="0"/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64C8ABED-4922-D2FE-F8E3-DB13194655DE}"/>
              </a:ext>
            </a:extLst>
          </p:cNvPr>
          <p:cNvSpPr txBox="1">
            <a:spLocks/>
          </p:cNvSpPr>
          <p:nvPr/>
        </p:nvSpPr>
        <p:spPr>
          <a:xfrm>
            <a:off x="6184342" y="3990533"/>
            <a:ext cx="5539095" cy="1010842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1600" dirty="0"/>
              <a:t>Merchant con llave inválida → 422</a:t>
            </a:r>
          </a:p>
          <a:p>
            <a:pPr marL="0" indent="0">
              <a:buNone/>
            </a:pPr>
            <a:r>
              <a:rPr lang="es-MX" sz="1600" dirty="0"/>
              <a:t>Merchant con llave vacía → 401</a:t>
            </a:r>
          </a:p>
          <a:p>
            <a:pPr marL="0" indent="0">
              <a:buNone/>
            </a:pPr>
            <a:r>
              <a:rPr lang="es-MX" sz="1600" dirty="0"/>
              <a:t>Transacción con moneda USD → 422</a:t>
            </a:r>
          </a:p>
          <a:p>
            <a:pPr marL="0" indent="0">
              <a:buNone/>
            </a:pPr>
            <a:r>
              <a:rPr lang="es-MX" sz="1600" dirty="0"/>
              <a:t>Transacción con monto 0 → 422</a:t>
            </a:r>
          </a:p>
          <a:p>
            <a:pPr marL="0" indent="0">
              <a:buNone/>
            </a:pPr>
            <a:r>
              <a:rPr lang="es-MX" sz="1600" dirty="0"/>
              <a:t>Transacción con email inválido → 422</a:t>
            </a:r>
            <a:r>
              <a:rPr lang="es-ES" sz="1600" dirty="0"/>
              <a:t> </a:t>
            </a:r>
            <a:r>
              <a:rPr lang="es-ES" sz="1600" dirty="0" err="1"/>
              <a:t>staging-prod</a:t>
            </a:r>
            <a:r>
              <a:rPr lang="es-ES" sz="1600" dirty="0"/>
              <a:t>, </a:t>
            </a:r>
            <a:r>
              <a:rPr lang="es-ES" sz="1600" dirty="0" err="1"/>
              <a:t>code</a:t>
            </a:r>
            <a:r>
              <a:rPr lang="es-ES" sz="1600" dirty="0"/>
              <a:t> </a:t>
            </a:r>
            <a:r>
              <a:rPr lang="es-ES" sz="1600" dirty="0" err="1"/>
              <a:t>freeze</a:t>
            </a:r>
            <a:r>
              <a:rPr lang="es-ES" sz="1600" dirty="0"/>
              <a:t>, validar dependencias externas</a:t>
            </a:r>
          </a:p>
          <a:p>
            <a:endParaRPr lang="es-ES" sz="16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414B90C-FBAC-CBBF-08CE-D2E91E7857B7}"/>
              </a:ext>
            </a:extLst>
          </p:cNvPr>
          <p:cNvCxnSpPr/>
          <p:nvPr/>
        </p:nvCxnSpPr>
        <p:spPr>
          <a:xfrm>
            <a:off x="3266753" y="2290916"/>
            <a:ext cx="12954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E179149-4FFC-5048-A548-4563A94FBEB8}"/>
              </a:ext>
            </a:extLst>
          </p:cNvPr>
          <p:cNvCxnSpPr/>
          <p:nvPr/>
        </p:nvCxnSpPr>
        <p:spPr>
          <a:xfrm>
            <a:off x="3914460" y="3320999"/>
            <a:ext cx="12954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5B41A64-6C31-4D76-FE09-6450573E560E}"/>
              </a:ext>
            </a:extLst>
          </p:cNvPr>
          <p:cNvCxnSpPr/>
          <p:nvPr/>
        </p:nvCxnSpPr>
        <p:spPr>
          <a:xfrm>
            <a:off x="4562168" y="4495954"/>
            <a:ext cx="12954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3C83C0D-3B33-955D-0DE7-0E8A8A1892F5}"/>
              </a:ext>
            </a:extLst>
          </p:cNvPr>
          <p:cNvSpPr txBox="1"/>
          <p:nvPr/>
        </p:nvSpPr>
        <p:spPr>
          <a:xfrm>
            <a:off x="4101535" y="515294"/>
            <a:ext cx="308334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500" dirty="0"/>
              <a:t>Diseño de escenarios</a:t>
            </a:r>
          </a:p>
        </p:txBody>
      </p:sp>
    </p:spTree>
    <p:extLst>
      <p:ext uri="{BB962C8B-B14F-4D97-AF65-F5344CB8AC3E}">
        <p14:creationId xmlns:p14="http://schemas.microsoft.com/office/powerpoint/2010/main" val="4195246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7407" y="208874"/>
            <a:ext cx="5767417" cy="324051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Seguridad y buenas practicas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24158E79-DA49-4521-BEC6-A7BA93C41F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2853" y="2143393"/>
            <a:ext cx="5431971" cy="1385973"/>
          </a:xfrm>
        </p:spPr>
        <p:txBody>
          <a:bodyPr rtlCol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 dirty="0"/>
              <a:t>Credenciales en .</a:t>
            </a:r>
            <a:r>
              <a:rPr lang="es-ES" sz="1600" dirty="0" err="1"/>
              <a:t>env</a:t>
            </a:r>
            <a:r>
              <a:rPr lang="es-ES" sz="1600" dirty="0"/>
              <a:t> local, nunca en el repositorio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.</a:t>
            </a:r>
            <a:r>
              <a:rPr lang="es-ES" sz="1600" dirty="0" err="1"/>
              <a:t>env.example</a:t>
            </a:r>
            <a:r>
              <a:rPr lang="es-ES" sz="1600" dirty="0"/>
              <a:t> con </a:t>
            </a:r>
            <a:r>
              <a:rPr lang="es-ES" sz="1600" dirty="0" err="1"/>
              <a:t>placeholders</a:t>
            </a:r>
            <a:r>
              <a:rPr lang="es-ES" sz="1600" dirty="0"/>
              <a:t> para </a:t>
            </a:r>
            <a:r>
              <a:rPr lang="es-ES" sz="1600" dirty="0" err="1"/>
              <a:t>onboarding</a:t>
            </a:r>
            <a:endParaRPr lang="es-ES" sz="1600" dirty="0"/>
          </a:p>
          <a:p>
            <a:pPr marL="342900" indent="-342900">
              <a:buFont typeface="+mj-lt"/>
              <a:buAutoNum type="arabicPeriod"/>
            </a:pPr>
            <a:r>
              <a:rPr lang="es-ES" sz="1600" dirty="0" err="1"/>
              <a:t>Endpoints</a:t>
            </a:r>
            <a:r>
              <a:rPr lang="es-ES" sz="1600" dirty="0"/>
              <a:t> centralizados en </a:t>
            </a:r>
            <a:r>
              <a:rPr lang="es-ES" sz="1600" dirty="0" err="1"/>
              <a:t>enum</a:t>
            </a:r>
            <a:r>
              <a:rPr lang="es-ES" sz="1600" dirty="0"/>
              <a:t> </a:t>
            </a:r>
            <a:r>
              <a:rPr lang="es-ES" sz="1600" dirty="0" err="1"/>
              <a:t>WompiEndpoint</a:t>
            </a:r>
            <a:endParaRPr lang="es-ES" sz="1600" dirty="0"/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Referencias únicas por ejecución (</a:t>
            </a:r>
            <a:r>
              <a:rPr lang="es-ES" sz="1600" dirty="0" err="1"/>
              <a:t>timestamp</a:t>
            </a:r>
            <a:r>
              <a:rPr lang="es-ES" sz="1600" dirty="0"/>
              <a:t>) para evitar duplicados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 err="1"/>
              <a:t>SerenityRest.reset</a:t>
            </a:r>
            <a:r>
              <a:rPr lang="es-ES" sz="1600" dirty="0"/>
              <a:t>() entre escenarios para evitar contaminación de estado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Reporte Serenity generado automáticamente con </a:t>
            </a:r>
            <a:r>
              <a:rPr lang="es-ES" sz="1600" dirty="0" err="1"/>
              <a:t>mvn</a:t>
            </a:r>
            <a:r>
              <a:rPr lang="es-ES" sz="1600" dirty="0"/>
              <a:t> </a:t>
            </a:r>
            <a:r>
              <a:rPr lang="es-ES" sz="1600" dirty="0" err="1"/>
              <a:t>verify</a:t>
            </a:r>
            <a:endParaRPr lang="es-ES" sz="16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CBA3860-5CF5-AD39-E642-DA088610B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42" y="1656373"/>
            <a:ext cx="406717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es-ES"/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Una sola líne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44_TF56180624_Win32" id="{CCF276C0-2FDF-463F-B45D-4EDBA039C896}" vid="{7446774B-3392-4AFF-ADF4-7FE1E36E528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sharepoint/v3"/>
    <ds:schemaRef ds:uri="http://schemas.microsoft.com/office/2006/metadata/properties"/>
    <ds:schemaRef ds:uri="http://schemas.microsoft.com/office/infopath/2007/PartnerControls"/>
    <ds:schemaRef ds:uri="230e9df3-be65-4c73-a93b-d1236ebd677e"/>
    <ds:schemaRef ds:uri="http://schemas.openxmlformats.org/package/2006/metadata/core-properties"/>
    <ds:schemaRef ds:uri="16c05727-aa75-4e4a-9b5f-8a80a1165891"/>
    <ds:schemaRef ds:uri="71af3243-3dd4-4a8d-8c0d-dd76da1f02a5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ventas minimalista tenue</Template>
  <TotalTime>201</TotalTime>
  <Words>239</Words>
  <Application>Microsoft Office PowerPoint</Application>
  <PresentationFormat>Panorámica</PresentationFormat>
  <Paragraphs>41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Tenorite</vt:lpstr>
      <vt:lpstr>Una sola línea</vt:lpstr>
      <vt:lpstr>Reto Automatización - wompi</vt:lpstr>
      <vt:lpstr>Decisiones tecnicas</vt:lpstr>
      <vt:lpstr>arquitectura</vt:lpstr>
      <vt:lpstr>Presentación de PowerPoint</vt:lpstr>
      <vt:lpstr>Seguridad y buenas practicas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THAINER  FRANKLIN PEREZ</dc:creator>
  <cp:lastModifiedBy>THAINER  FRANKLIN PEREZ</cp:lastModifiedBy>
  <cp:revision>4</cp:revision>
  <dcterms:created xsi:type="dcterms:W3CDTF">2026-04-27T15:50:39Z</dcterms:created>
  <dcterms:modified xsi:type="dcterms:W3CDTF">2026-05-04T04:43:50Z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